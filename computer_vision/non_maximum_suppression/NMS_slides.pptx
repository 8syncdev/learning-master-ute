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theme" Target="theme/theme1.xml"/><Relationship Id="rId21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200000"/>
            <a:ext cx="10820400" cy="1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/>
            <a:r>
              <a:rPr lang="vi-VN" sz="4400" b="1"/>
              <a:t>Non-Maximum Suppression (NMS)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3700000"/>
            <a:ext cx="10820400" cy="1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vi-VN" sz="2000"/>
              <a:t>Kỹ thuật gom các đối tượng nhận dạng chồng lấp</a:t>
            </a:r>
          </a:p>
          <a:p>
            <a:pPr algn="ctr">
              <a:buNone/>
            </a:pPr>
            <a:r>
              <a:rPr lang="vi-VN" sz="2000"/>
              <a:t>Môn: Computer Vision</a:t>
            </a:r>
          </a:p>
          <a:p>
            <a:pPr algn="ctr">
              <a:buNone/>
            </a:pPr>
            <a:r>
              <a:rPr lang="vi-VN" sz="2000"/>
              <a:t>Học viên: Nguyễn Phương Anh Tú — MSHV 2611328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Nội dung trình bày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Đặt vấn đề: vì sao xuất hiện đối tượng chồng lấp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Nền tảng IoU và thuật toán NMS cổ điển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Hạn chế của Greedy NMS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Các biến thể cải tiến (Soft / Adaptive / DIoU / Cluster / Matrix ...)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Ứng dụng gom đối tượng chồng lấp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Hướng hiện đại: detector không cần NMS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Triển khai thực tế và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Đặt vấn đề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Detector sinh ra RẤT NHIỀU box quanh cùng một vật thể, do: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Anchor dày đặc và cửa sổ trượt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Dự đoán đa tỉ lệ (multi-scale)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Gán nhãn một-nhiều khi huấn luyện → nhiều dự đoán/1 vật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Hệ quả: đầu ra "thô" chứa các đối tượng nhận dạng chồng lấp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Cần bước hậu xử lý gom mỗi cụm box trùng về một đại diện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NMS là gì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NMS = thuật toán hậu xử lý hợp nhất mọi phát hiện thuộc CÙNG một đối tượng (Hosang, CVPR 2017)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Bản chất: gom cụm tham lam (greedy clustering) theo ngưỡng độ chồng lấp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Đúng chủ đề: NMS chính là kỹ thuật GOM các đối tượng nhận dạng chồng lấp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Tiêu chí "cùng một vật": độ đo IoU vượt ngưỡng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Nền tảng: độ đo IoU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IoU = diện tích giao / diện tích hợp, giá trị trong [0, 1]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0 = rời nhau; 1 = trùng khít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Là tiêu chí quyết định hai box có cùng một vật hay không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Mở rộng khi cần: GIoU, DIoU (thêm khoảng cách tâm), CIoU (thêm tỉ lệ khung)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Greedy NMS — thuật toán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Xử lý riêng từng lớp (per-class)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Bước 1: sắp xếp box theo điểm tin cậy giảm dần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Bước 2: chọn box điểm cao nhất M làm đại diện, giữ lại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Bước 3: xoá mọi box có IoU(M, b) ≥ ngưỡng Nt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Bước 4: lặp với các box còn lại đến khi hết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Greedy NMS — minh hoạ và độ phức tạp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Mỗi vòng: box điểm cao nhất "nuốt" các box chồng lấp đủ nhiều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Điểm mấu chốt: XOÁ HẲN (hard threshold) — điểm box lân cận về 0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Độ phức tạp xấu nhất O(n^2); thực tế nhỏ nhờ lọc trước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Bản chất tuần tự → khó song song hoá hiệu quả trên GPU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Ba tham số then chốt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score_threshold: lọc box điểm thấp TRƯỚC khi chạy NMS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iou_threshold (Nt): ngưỡng coi hai box là cùng vật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Nt thấp → khử mạnh, dễ xoá nhầm vật chồng nhau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Nt cao → giữ nhiều, dễ trùng lặp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top_k / max_detections: giới hạn số box đầu 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NMS trong pipeline phát hiện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Hai giai đoạn (R-CNN): NMS ở RPN và ở đầu ra cuối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Một giai đoạn (YOLO, SSD, RetinaNet): NMS là bước hậu xử lý cuối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NMS gắn liền với gán nhãn một-nhiều khi huấn luyện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Đây là điểm mà các detector NMS-free nhắm tới loại bỏ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Hạn chế của Greedy NMS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Ngưỡng cứng làm MẤT vật thật chồng lấp → giảm recall (cảnh đông)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Đánh đổi recall–precision bị khoá bởi MỘT ngưỡng Nt duy nhất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Chỉ dùng điểm tin cậy + IoU, bỏ qua mật độ/ngữ cảnh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Điểm phân loại cao ≠ định vị tốt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Khó song song hoá (tuần tự)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Cải tiến 1: Soft-NMS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Thay vì xoá hẳn → GIẢM ĐIỂM box lân cận theo độ chồng lấp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Tuyến tính: s ← s(1 − IoU); Gaussian: s ← s·exp(−IoU²/σ)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Box thật bị che vẫn còn cơ hội được giữ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Cùng độ phức tạp, không cần huấn luyện; +1.1–1.7% mAP (VOC/COCO)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Cải tiến 2: cảnh đông và che khuất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Adaptive-NMS (CVPR 2019): ngưỡng ĐỘNG theo mật độ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Vùng đông → Nt cao hơn để không xoá nhầm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Học density bằng mạng con; SOTA CrowdHuman / CityPersons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DIoU-NMS (AAAI 2020): tiêu chí IoU + khoảng cách tâm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IoU cao nhưng tâm xa → có thể là hai vật khác → không khử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Cải tiến 3: tốc độ, GPU và mask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Cluster-NMS: gom cụm bằng ma trận IoU, thuần GPU, ít vòng lặp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Matrix-NMS (SOLOv2): Soft-NMS song song một lần cho mask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Fast-NMS (YOLACT): ma trận IoU tam giác trên, đổi chính xác lấy tốc độ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Phù hợp suy luận thời gian thực và phân đoạn thực thể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Cải tiến 4: học và định vị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Learning NMS / GossipNet (CVPR 2017): mạng học thực hiện NMS từ box+điểm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Xử lý occlusion tốt hơn, ~+1 điểm AP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IoU-Net (ECCV 2018): xếp hạng theo localization confidence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Giữ box ĐỊNH VỊ tốt nhất, không chỉ box "tự tin" nhất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Chọn biến thể theo bài toán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Cảnh thường, cần đơn giản → Greedy NMS hoặc Soft-NMS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Cảnh đông / che khuất → Adaptive-NMS hoặc DIoU-NMS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Cần tốc độ GPU / thời gian thực → Cluster-NMS / Fast-NMS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Phân đoạn thực thể (mask) → Matrix-NMS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Ưu tiên độ chính xác định vị → kết hợp IoU-Net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Hướng hiện đại: detector không cần NMS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NMS là bước không khả vi, cản trở huấn luyện đầu-cuối và tăng độ trễ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DETR (ECCV 2020): dự đoán tập hợp + so khớp song ánh → mỗi vật khớp 1 query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YOLOv10 (NeurIPS 2024): gán đôi nhất quán (one-to-many + one-to-one)</a:t>
            </a:r>
          </a:p>
          <a:p>
            <a:pPr marL="914400" indent="-457200" lvl="1">
              <a:buFont typeface="Arial"/>
              <a:buChar char="–"/>
            </a:pPr>
            <a:r>
              <a:rPr lang="vi-VN" sz="1800"/>
              <a:t>Bỏ NMS khi suy luận, giảm 46% độ trễ so với YOLOv9-C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Thông điệp: khử trùng ngay ở mức huấn luyện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Triển khai thực tế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torchvision.ops.nms(boxes, scores, iou_threshold)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batched_nms(boxes, scores, class_ids, iou_threshold) — riêng từng lớp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Lưu ý: box định dạng xyxy; lọc score_threshold và top_k trước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Chạy NMS riêng theo lớp để không khử nhầm hai vật khác lớp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65125"/>
            <a:ext cx="10820400" cy="11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/>
            <a:r>
              <a:rPr lang="vi-VN" sz="3200" b="1"/>
              <a:t>Kết luận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550000"/>
            <a:ext cx="108204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 lvl="0">
              <a:buFont typeface="Arial"/>
              <a:buChar char="•"/>
            </a:pPr>
            <a:r>
              <a:rPr lang="vi-VN" sz="2000"/>
              <a:t>NMS = kỹ thuật gom các đối tượng nhận dạng chồng lấp (IoU + điểm)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Greedy NMS đơn giản nhưng yếu ở cảnh đông và bị khoá ngưỡng cứng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Biến thể giải quyết từng điểm yếu: Soft / Adaptive / DIoU / Cluster / Matrix / Learning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Xu hướng: detector NMS-free (DETR, YOLOv10) hướng tới suy luận đầu-cuối</a:t>
            </a:r>
          </a:p>
          <a:p>
            <a:pPr marL="457200" indent="-457200" lvl="0">
              <a:buFont typeface="Arial"/>
              <a:buChar char="•"/>
            </a:pPr>
            <a:r>
              <a:rPr lang="vi-VN" sz="2000"/>
              <a:t>Chọn phương pháp theo bối cảnh bài toán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5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63000"/>
          </a:schemeClr>
        </a:solidFill>
      </a:bgFillStyleLst>
    </a:fmtScheme>
  </a:themeElements>
</a:theme>
</file>